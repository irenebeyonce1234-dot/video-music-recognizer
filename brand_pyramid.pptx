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1C4E32"/>
                </a:solidFill>
              </a:defRPr>
            </a:pPr>
            <a:r>
              <a:t>你是谁？</a:t>
            </a:r>
          </a:p>
        </p:txBody>
      </p:sp>
      <p:sp>
        <p:nvSpPr>
          <p:cNvPr id="3" name="Left Arrow 2"/>
          <p:cNvSpPr/>
          <p:nvPr/>
        </p:nvSpPr>
        <p:spPr>
          <a:xfrm>
            <a:off x="3291840" y="457200"/>
            <a:ext cx="731520" cy="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4114800" y="457200"/>
            <a:ext cx="-4571990" cy="-45719"/>
          </a:xfrm>
          <a:prstGeom prst="triangle">
            <a:avLst/>
          </a:prstGeom>
          <a:solidFill>
            <a:srgbClr val="1C4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品牌定位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1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1C4E32"/>
                </a:solidFill>
              </a:defRPr>
            </a:pPr>
            <a:r>
              <a:t>你主张什么？</a:t>
            </a:r>
          </a:p>
        </p:txBody>
      </p:sp>
      <p:sp>
        <p:nvSpPr>
          <p:cNvPr id="6" name="Left Arrow 5"/>
          <p:cNvSpPr/>
          <p:nvPr/>
        </p:nvSpPr>
        <p:spPr>
          <a:xfrm>
            <a:off x="3291840" y="457201"/>
            <a:ext cx="731520" cy="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457200"/>
            <a:ext cx="-4571990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品牌主张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1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1C4E32"/>
                </a:solidFill>
              </a:defRPr>
            </a:pPr>
            <a:r>
              <a:t>你的风格是什么？</a:t>
            </a:r>
          </a:p>
        </p:txBody>
      </p:sp>
      <p:sp>
        <p:nvSpPr>
          <p:cNvPr id="9" name="Left Arrow 8"/>
          <p:cNvSpPr/>
          <p:nvPr/>
        </p:nvSpPr>
        <p:spPr>
          <a:xfrm>
            <a:off x="3291840" y="457201"/>
            <a:ext cx="731520" cy="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457201"/>
            <a:ext cx="-4571990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品牌调性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2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1C4E32"/>
                </a:solidFill>
              </a:defRPr>
            </a:pPr>
            <a:r>
              <a:t>你的口号是什么？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3291840" y="457202"/>
            <a:ext cx="731520" cy="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457202"/>
            <a:ext cx="-4571990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品牌口号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3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1C4E32"/>
                </a:solidFill>
              </a:defRPr>
            </a:pPr>
            <a:r>
              <a:t>你的目标人群是谁？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3291840" y="457203"/>
            <a:ext cx="731520" cy="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457203"/>
            <a:ext cx="-4571990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核心目标人群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4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1C4E32"/>
                </a:solidFill>
              </a:defRPr>
            </a:pPr>
            <a:r>
              <a:t>你能给TA带来什么利益？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3291840" y="457204"/>
            <a:ext cx="731520" cy="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457204"/>
            <a:ext cx="-2308855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功能性利益点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1665" y="457204"/>
            <a:ext cx="-2308855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情感性利益点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5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1C4E32"/>
                </a:solidFill>
              </a:defRPr>
            </a:pPr>
            <a:r>
              <a:t>你凭什么被TA相信？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3291840" y="457205"/>
            <a:ext cx="731520" cy="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57204"/>
            <a:ext cx="-950974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RTB1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9546" y="457204"/>
            <a:ext cx="-950974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RTB2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04292" y="457204"/>
            <a:ext cx="-950974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RTB3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99038" y="457204"/>
            <a:ext cx="-950974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RTB4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84" y="457204"/>
            <a:ext cx="-950974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RTB5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5"/>
            <a:ext cx="2743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>
                <a:solidFill>
                  <a:srgbClr val="1C4E32"/>
                </a:solidFill>
              </a:defRPr>
            </a:pPr>
            <a:r>
              <a:t>你都有什么产品？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3291840" y="457205"/>
            <a:ext cx="731520" cy="0"/>
          </a:xfrm>
          <a:prstGeom prst="leftArrow">
            <a:avLst/>
          </a:prstGeom>
          <a:solidFill>
            <a:srgbClr val="A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457205"/>
            <a:ext cx="-1177287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产品系列1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83232" y="457205"/>
            <a:ext cx="-1177287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产品系列2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51665" y="457205"/>
            <a:ext cx="-1177287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产品系列3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97" y="457205"/>
            <a:ext cx="-1177287" cy="-45719"/>
          </a:xfrm>
          <a:prstGeom prst="rect">
            <a:avLst/>
          </a:prstGeom>
          <a:solidFill>
            <a:srgbClr val="3C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产品系列4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